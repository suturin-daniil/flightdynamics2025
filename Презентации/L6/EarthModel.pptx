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69" r:id="rId13"/>
    <p:sldId id="270" r:id="rId14"/>
    <p:sldId id="266" r:id="rId15"/>
    <p:sldId id="280" r:id="rId16"/>
    <p:sldId id="271" r:id="rId17"/>
    <p:sldId id="272" r:id="rId18"/>
    <p:sldId id="273" r:id="rId19"/>
    <p:sldId id="274" r:id="rId20"/>
    <p:sldId id="281" r:id="rId21"/>
    <p:sldId id="275" r:id="rId22"/>
    <p:sldId id="278" r:id="rId23"/>
    <p:sldId id="279" r:id="rId24"/>
    <p:sldId id="26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3" autoAdjust="0"/>
    <p:restoredTop sz="94660"/>
  </p:normalViewPr>
  <p:slideViewPr>
    <p:cSldViewPr snapToGrid="0">
      <p:cViewPr varScale="1">
        <p:scale>
          <a:sx n="83" d="100"/>
          <a:sy n="83" d="100"/>
        </p:scale>
        <p:origin x="-54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6E1E4-2C36-4CE0-9008-1EF69C09201B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FBD7F-C6BA-49D0-8492-7CAE935556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43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FBD7F-C6BA-49D0-8492-7CAE9355565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581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ADBC44F-8AFD-4C4F-829D-73F167430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17CBE1BE-79B8-400A-A3BF-BFC4B06E5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5A9753CA-5685-405C-8D17-1F329956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F375EAF-A089-4A88-97A4-2E2EF49B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32AC2C0-1A2D-4612-97EA-7D8A9ECE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72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4E12345-8579-4714-A013-DA414DA5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7CF11B8-8E46-421F-8709-BE8EDB29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177A1B3-4866-47C4-9116-0D2D3FF1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988DD4CD-C841-4D9C-80CE-4520D98A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93214176-8D65-4099-B120-47FBC52C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4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0BA41E0-B55F-49C9-9666-673964DC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B153352D-54D5-4DCF-8D7F-F577F4813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6498ABB-CD45-4FC8-8DF2-76D94B9F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FBDBD965-8DA0-49EA-A57E-81A1BA65C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DF7D0EA2-89D9-44B0-B8B4-E7DD44BD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73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A46C323-2E49-4CAA-A0C4-0FA21C68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93388DE-EA06-4D53-8C87-3A7510645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02420941-0F15-46A9-906F-F31284349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8C1E421F-1F77-463C-9A5B-FD144DB11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FF53E9CE-265A-49EA-8528-2B60122F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780678A2-F0CE-4FDD-A819-98A7016E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08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34DAA9D-CB63-429E-AD4A-C55BA599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F523E068-C54D-46B0-8EA0-F42FAE038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E07D5A13-59E6-4FE0-9F25-79B40D2F7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AAACCEAB-01F3-4F3B-A835-3CDD55D32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29FADEA4-6C3C-4BF9-852E-BC3AC70C6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ECC7A5ED-15A6-4A2F-B85A-BA88674E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AC147B23-AE53-4DBE-8F2B-1FCD0E36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A76BAF19-E155-42B5-8CAA-3882CBAA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22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285D70-74BF-406B-8416-4D37DD64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41DEB63F-9F58-49E3-8890-3712492BA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B1E4748-BA22-4E02-968A-7BA07E7A1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83C82077-5D61-4873-BA8D-A1F40C36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79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55E2B9F5-B1C2-4DB9-93F9-EE9E975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CE53B2B4-EC2D-4F5A-8DC7-D58AD397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1B158A-94DF-463A-B0D3-C875D452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92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BCC9F26-5EC6-4A98-8787-7E5BEE80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FC7A46F-2030-481A-A375-F09C442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11D7511B-BCDA-4539-8046-F25A43E84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C082307A-C51A-459C-BCB7-668E4250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DF917EA-8C2C-42FE-BF50-D94C4A0C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AF08E8A4-C6A7-4C28-AE41-12CFD7F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14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D64A5AD7-8800-4FFC-A7CB-9AC14A7F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3477253F-4BB7-43EF-93B6-FD915D5E4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FA879AB9-A2AB-495C-9071-0B1649747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8E34B81D-A6A7-41CA-9C67-5823D36B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CE98B48-78A6-4DB5-99AF-9485CD7A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3BE4300-B2E2-45A1-872B-C3B67E45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445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02BDD28-4ADF-4AF2-8F17-E9708835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9262F2E6-FC30-45B2-88F6-ADFEE345A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E9572553-D470-4D2C-9ACC-89792A50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CCC0CB25-72B9-456A-9AFC-E12B1EC2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BCF0648-C7B7-459F-8415-53D214C5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15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5D3BFDA6-5B5A-4DB2-80A0-4A182AB4E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A9A936FE-BE42-45A8-AB19-26A92D095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F9A274B-64C8-435F-BCBD-B61E57D6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E8DA085E-D835-4BB9-A165-C470D635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A06F0548-E808-4F4E-B48F-98B98127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29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15826DF-E235-472F-AE1B-42FD217F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D6AC446D-BDA2-4DB9-983E-A74B5950F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4CA6C1D4-81BF-487C-9C52-F2C44A611B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191D1-813A-4027-9891-3204B37D11EA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FA4E724-4EEF-4190-9D7D-22A7AC2C9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A0B0990-75FA-4582-AFBC-0A07B1A58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531CA-0FCF-4DD6-94AC-EC7969A1B3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05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727E763-149F-4968-8840-819C5A403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Модель Земли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C1B8FD3D-BA2E-486C-825E-6E7B652EFA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26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EB8B736-DF51-4912-A70D-E84D730CD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548" y="926431"/>
            <a:ext cx="6733674" cy="53467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Земля – естественный объект в околоземном пространстве, в котором осуществляется навигация, вопрос математически строго описания ее формы относится к наиболее древним</a:t>
            </a:r>
          </a:p>
          <a:p>
            <a:pPr marL="0" indent="0" algn="just">
              <a:buNone/>
            </a:pPr>
            <a:r>
              <a:rPr lang="ru-RU" sz="2400" dirty="0"/>
              <a:t>Исаак Ньютон впервые дал научное обоснование форме Земли, как результат действия сил тяжести и сил инерции на однородное жидкое тело с постоянной угловой скоростью</a:t>
            </a:r>
          </a:p>
          <a:p>
            <a:pPr marL="0" indent="0" algn="just">
              <a:buNone/>
            </a:pPr>
            <a:r>
              <a:rPr lang="ru-RU" sz="2400" dirty="0"/>
              <a:t>Геодезические и астрономические измерения в </a:t>
            </a:r>
            <a:r>
              <a:rPr lang="en-US" sz="2400" dirty="0"/>
              <a:t>XIX </a:t>
            </a:r>
            <a:r>
              <a:rPr lang="ru-RU" sz="2400" dirty="0"/>
              <a:t>веке уточнили форму Земли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6BC0390F-DD10-4BAE-9C83-34017559E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13607"/>
            <a:ext cx="3727886" cy="5532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DB78289-BCA0-492C-B05E-047590CE6FBB}"/>
              </a:ext>
            </a:extLst>
          </p:cNvPr>
          <p:cNvSpPr txBox="1"/>
          <p:nvPr/>
        </p:nvSpPr>
        <p:spPr>
          <a:xfrm>
            <a:off x="-882316" y="6068017"/>
            <a:ext cx="7168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Определение высоты скальных </a:t>
            </a:r>
          </a:p>
          <a:p>
            <a:pPr algn="ctr"/>
            <a:r>
              <a:rPr lang="ru-RU" sz="1400" dirty="0"/>
              <a:t>образований методом триангуляции</a:t>
            </a:r>
          </a:p>
        </p:txBody>
      </p:sp>
    </p:spTree>
    <p:extLst>
      <p:ext uri="{BB962C8B-B14F-4D97-AF65-F5344CB8AC3E}">
        <p14:creationId xmlns:p14="http://schemas.microsoft.com/office/powerpoint/2010/main" val="2923396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EB8B736-DF51-4912-A70D-E84D730CD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685" y="1253331"/>
            <a:ext cx="5610726" cy="488277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400" dirty="0"/>
              <a:t>Разделяют три по поверхности, описывающие поверхность Земли:</a:t>
            </a:r>
          </a:p>
          <a:p>
            <a:pPr algn="just"/>
            <a:r>
              <a:rPr lang="ru-RU" sz="2400" b="1" dirty="0"/>
              <a:t>Топографическая</a:t>
            </a:r>
            <a:r>
              <a:rPr lang="ru-RU" sz="2400" dirty="0"/>
              <a:t> поверхность Земли. Действительная физическая форма поверхности Земли, включающая горные массивы, морское дно</a:t>
            </a:r>
          </a:p>
          <a:p>
            <a:pPr algn="just"/>
            <a:r>
              <a:rPr lang="ru-RU" sz="2400" b="1" dirty="0"/>
              <a:t>Геоид</a:t>
            </a:r>
            <a:r>
              <a:rPr lang="ru-RU" sz="2400" dirty="0"/>
              <a:t> – поверхность, отображающая </a:t>
            </a:r>
            <a:r>
              <a:rPr lang="ru-RU" sz="2400" dirty="0" err="1"/>
              <a:t>эквипотенциаль</a:t>
            </a:r>
            <a:r>
              <a:rPr lang="ru-RU" sz="2400" dirty="0"/>
              <a:t> для гравитационного поля Земли. В каждой точке которой направление силы тяжести совпадает с нормалью, а ее модуль неизменен</a:t>
            </a:r>
          </a:p>
          <a:p>
            <a:pPr algn="just"/>
            <a:r>
              <a:rPr lang="ru-RU" sz="2400" b="1" dirty="0"/>
              <a:t>Эллипсоид</a:t>
            </a:r>
            <a:r>
              <a:rPr lang="ru-RU" sz="2400" dirty="0"/>
              <a:t> – аналитически заданная поверхность, аппроксимирующая геоид наилучшим образом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4D5A64E-F658-45FA-9676-7E8B85090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" y="1837849"/>
            <a:ext cx="6347561" cy="3516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6FE2D3D-4E29-49E6-BCD6-61BFFAB84520}"/>
              </a:ext>
            </a:extLst>
          </p:cNvPr>
          <p:cNvSpPr txBox="1"/>
          <p:nvPr/>
        </p:nvSpPr>
        <p:spPr>
          <a:xfrm>
            <a:off x="1987066" y="5375747"/>
            <a:ext cx="2490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Поверхность Земли</a:t>
            </a:r>
          </a:p>
        </p:txBody>
      </p:sp>
    </p:spTree>
    <p:extLst>
      <p:ext uri="{BB962C8B-B14F-4D97-AF65-F5344CB8AC3E}">
        <p14:creationId xmlns:p14="http://schemas.microsoft.com/office/powerpoint/2010/main" val="159812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="" xmlns:a16="http://schemas.microsoft.com/office/drawing/2014/main" id="{7EB8B736-DF51-4912-A70D-E84D730CD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6727" y="681037"/>
                <a:ext cx="11598442" cy="5495926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2400" dirty="0"/>
                  <a:t>Геоид является наиболее точной нулевой поверхностью навигационного пространства, его положение задает «уровень моря» при определении высот различных объектов.</a:t>
                </a:r>
              </a:p>
              <a:p>
                <a:pPr marL="0" indent="0" algn="just">
                  <a:buNone/>
                </a:pPr>
                <a:r>
                  <a:rPr lang="ru-RU" sz="2400" dirty="0"/>
                  <a:t>Эллипсоид строится таким образом, чтобы сумма квадратов отклонений геоида от него была минимальна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</m:nary>
                  </m:oMath>
                </a14:m>
                <a:r>
                  <a:rPr lang="ru-RU" sz="2400" dirty="0"/>
                  <a:t>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EB8B736-DF51-4912-A70D-E84D730CD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6727" y="681037"/>
                <a:ext cx="11598442" cy="5495926"/>
              </a:xfrm>
              <a:blipFill>
                <a:blip r:embed="rId2"/>
                <a:stretch>
                  <a:fillRect l="-788" t="-1554" r="-7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61BC7645-757D-4029-8F77-E2CF67986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b="43971"/>
          <a:stretch/>
        </p:blipFill>
        <p:spPr>
          <a:xfrm>
            <a:off x="1012658" y="3429000"/>
            <a:ext cx="10166684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205F68FA-A468-41CC-BFB2-EDE7BBADC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63" y="885720"/>
            <a:ext cx="7800474" cy="50865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8DA25EA-5F25-4623-B357-84AEEB2314CD}"/>
              </a:ext>
            </a:extLst>
          </p:cNvPr>
          <p:cNvSpPr txBox="1"/>
          <p:nvPr/>
        </p:nvSpPr>
        <p:spPr>
          <a:xfrm>
            <a:off x="3130216" y="5977041"/>
            <a:ext cx="5931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Измерение среднего уровня океана датчиками уровня </a:t>
            </a:r>
          </a:p>
        </p:txBody>
      </p:sp>
    </p:spTree>
    <p:extLst>
      <p:ext uri="{BB962C8B-B14F-4D97-AF65-F5344CB8AC3E}">
        <p14:creationId xmlns:p14="http://schemas.microsoft.com/office/powerpoint/2010/main" val="336495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75F4687D-BE2C-4CAD-811B-A999EABC37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7" b="9912"/>
          <a:stretch/>
        </p:blipFill>
        <p:spPr>
          <a:xfrm>
            <a:off x="1398357" y="681037"/>
            <a:ext cx="9395285" cy="569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4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CB060D7-7130-4A7B-B8A8-C19BF964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0"/>
            <a:ext cx="10515600" cy="66483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Историческая справка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01E398F0-C856-4597-B845-8FD355737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81037"/>
            <a:ext cx="3875135" cy="58204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4C5D70F-FF5C-42C5-8387-F5249198F0A8}"/>
              </a:ext>
            </a:extLst>
          </p:cNvPr>
          <p:cNvSpPr txBox="1"/>
          <p:nvPr/>
        </p:nvSpPr>
        <p:spPr>
          <a:xfrm>
            <a:off x="0" y="6534023"/>
            <a:ext cx="6268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Измерение относительного положения объектов методом триангуляции</a:t>
            </a:r>
          </a:p>
        </p:txBody>
      </p:sp>
    </p:spTree>
    <p:extLst>
      <p:ext uri="{BB962C8B-B14F-4D97-AF65-F5344CB8AC3E}">
        <p14:creationId xmlns:p14="http://schemas.microsoft.com/office/powerpoint/2010/main" val="211543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A65F1750-1D64-4B32-94EE-B51FCB4466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62"/>
          <a:stretch/>
        </p:blipFill>
        <p:spPr>
          <a:xfrm>
            <a:off x="6805864" y="744829"/>
            <a:ext cx="5003985" cy="5368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16B34EF-7A3C-43E6-B8F8-66CD0FF5A42E}"/>
              </a:ext>
            </a:extLst>
          </p:cNvPr>
          <p:cNvSpPr txBox="1"/>
          <p:nvPr/>
        </p:nvSpPr>
        <p:spPr>
          <a:xfrm>
            <a:off x="6805864" y="6250556"/>
            <a:ext cx="5003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Регулярны отчет </a:t>
            </a:r>
            <a:r>
              <a:rPr lang="en-US" sz="1400" dirty="0"/>
              <a:t>NGA </a:t>
            </a:r>
            <a:r>
              <a:rPr lang="ru-RU" sz="1400" dirty="0"/>
              <a:t>о глобальной геодезической системе </a:t>
            </a:r>
            <a:r>
              <a:rPr lang="en-US" sz="1400" dirty="0"/>
              <a:t>WGS-84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460E3BC-22B4-4927-A832-CC40C9F8CB3D}"/>
              </a:ext>
            </a:extLst>
          </p:cNvPr>
          <p:cNvSpPr txBox="1"/>
          <p:nvPr/>
        </p:nvSpPr>
        <p:spPr>
          <a:xfrm>
            <a:off x="276727" y="866273"/>
            <a:ext cx="62203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В настоящее время, в эру спутниковой навигации, гравиметрические измерения со спутников позволяют строить модель гравитационного поля Земли и обновлять параметры эллипсоида, описывающего геоид. </a:t>
            </a:r>
          </a:p>
          <a:p>
            <a:pPr algn="just"/>
            <a:r>
              <a:rPr lang="ru-RU" sz="2400" dirty="0"/>
              <a:t>Доклад </a:t>
            </a:r>
            <a:r>
              <a:rPr lang="en-US" sz="2400" dirty="0"/>
              <a:t>NGA </a:t>
            </a:r>
            <a:r>
              <a:rPr lang="ru-RU" sz="2400" dirty="0"/>
              <a:t>и соответствующие ему международные стандарты содержат обновлённые модели гравитационного поля Земли (</a:t>
            </a:r>
            <a:r>
              <a:rPr lang="en-US" sz="2400" dirty="0"/>
              <a:t>Earth Gravitational Model</a:t>
            </a:r>
            <a:r>
              <a:rPr lang="ru-RU" sz="2400" dirty="0"/>
              <a:t>), магнитного поля (</a:t>
            </a:r>
            <a:r>
              <a:rPr lang="en-US" sz="2400" dirty="0"/>
              <a:t>World Magnetic Model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612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8A3BFA0-4477-4D20-A2FD-C38D4F4676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72"/>
          <a:stretch/>
        </p:blipFill>
        <p:spPr>
          <a:xfrm>
            <a:off x="569633" y="573337"/>
            <a:ext cx="11052733" cy="5322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14F23ED-0DC1-4EAA-9693-97CDA8078BB9}"/>
              </a:ext>
            </a:extLst>
          </p:cNvPr>
          <p:cNvSpPr txBox="1"/>
          <p:nvPr/>
        </p:nvSpPr>
        <p:spPr>
          <a:xfrm>
            <a:off x="3797967" y="5895474"/>
            <a:ext cx="459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Определение осей системы </a:t>
            </a:r>
            <a:r>
              <a:rPr lang="en-US" dirty="0"/>
              <a:t>WGS-84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350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9F8EF16-5B86-45A6-A581-C642E87D24EC}"/>
              </a:ext>
            </a:extLst>
          </p:cNvPr>
          <p:cNvSpPr txBox="1"/>
          <p:nvPr/>
        </p:nvSpPr>
        <p:spPr>
          <a:xfrm>
            <a:off x="350921" y="974558"/>
            <a:ext cx="114901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Начало отсчета совпадает с центром масс Земли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Ось </a:t>
            </a:r>
            <a:r>
              <a:rPr lang="en-US" sz="2400" dirty="0"/>
              <a:t>Z – </a:t>
            </a:r>
            <a:r>
              <a:rPr lang="ru-RU" sz="2400" dirty="0"/>
              <a:t>по направлению средней оси вращения Земли на состояние 1984 года (эпоха 1984.0)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Ось </a:t>
            </a:r>
            <a:r>
              <a:rPr lang="en-US" sz="2400" dirty="0"/>
              <a:t>X – </a:t>
            </a:r>
            <a:r>
              <a:rPr lang="ru-RU" sz="2400" dirty="0"/>
              <a:t>направлена в точку пересечения опорного меридиана и плоскости, проходящей через начало отсчета и ось </a:t>
            </a:r>
            <a:r>
              <a:rPr lang="en-US" sz="2400" dirty="0"/>
              <a:t>Z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400" dirty="0"/>
              <a:t>Ось </a:t>
            </a:r>
            <a:r>
              <a:rPr lang="en-US" sz="2400" dirty="0"/>
              <a:t>Y – </a:t>
            </a:r>
            <a:r>
              <a:rPr lang="ru-RU" sz="2400" dirty="0"/>
              <a:t>дополняет систему до правой тройки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400" dirty="0"/>
          </a:p>
          <a:p>
            <a:pPr algn="just"/>
            <a:r>
              <a:rPr lang="ru-RU" sz="2400" dirty="0"/>
              <a:t>Для достижения точного позиционирования объектов на поверхности Земли используются набор станций мониторинга навигационных спутников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72488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5E4F4A9-C7EB-4B21-83D4-0F69C51A6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647987"/>
            <a:ext cx="11353799" cy="61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0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573DDE1-A230-4758-B09B-9469C5791EDE}"/>
              </a:ext>
            </a:extLst>
          </p:cNvPr>
          <p:cNvSpPr txBox="1"/>
          <p:nvPr/>
        </p:nvSpPr>
        <p:spPr>
          <a:xfrm>
            <a:off x="7632192" y="1048512"/>
            <a:ext cx="43190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Положение осей и эллипсоида </a:t>
            </a:r>
            <a:r>
              <a:rPr lang="en-US" sz="2400" dirty="0"/>
              <a:t>WGS-84 </a:t>
            </a:r>
            <a:r>
              <a:rPr lang="ru-RU" sz="2400" dirty="0"/>
              <a:t>не претерпевало изменений с момента ее введения. Однако геофизические явления, как движение тектонических плит, землетрясения и </a:t>
            </a:r>
            <a:r>
              <a:rPr lang="ru-RU" sz="2400" dirty="0" err="1"/>
              <a:t>т.д</a:t>
            </a:r>
            <a:r>
              <a:rPr lang="ru-RU" sz="2400" dirty="0"/>
              <a:t> приводят к изменению их положения </a:t>
            </a:r>
          </a:p>
          <a:p>
            <a:pPr algn="just"/>
            <a:r>
              <a:rPr lang="ru-RU" sz="2400" dirty="0"/>
              <a:t>Эффект от этих явлений должен быть учтен. Для коррекции используются модели движения тектонических плит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6E362FB2-D213-437C-BF0D-E38F1FA7E7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609234"/>
            <a:ext cx="7205487" cy="586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2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Система координат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B67CD3F-D703-4F83-98EC-9644B35FB3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2" b="10222"/>
          <a:stretch/>
        </p:blipFill>
        <p:spPr>
          <a:xfrm>
            <a:off x="629384" y="609600"/>
            <a:ext cx="10933232" cy="61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82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Параметры эллипсоида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E79088E-331E-4FA7-9D96-ED5B020EEF67}"/>
                  </a:ext>
                </a:extLst>
              </p:cNvPr>
              <p:cNvSpPr txBox="1"/>
              <p:nvPr/>
            </p:nvSpPr>
            <p:spPr>
              <a:xfrm>
                <a:off x="838200" y="1036320"/>
                <a:ext cx="10515600" cy="2470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400" dirty="0"/>
                  <a:t>Для описания геометрии эллипсоида и его нормального гравитационного поля необходимо знать 4 параметра: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Большая полуось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а</m:t>
                    </m:r>
                  </m:oMath>
                </a14:m>
                <a:endParaRPr lang="ru-RU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Полярное сжатие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Средняя угловая скорость вращения Земли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Гравитационная постоянная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𝐺𝑀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9088E-331E-4FA7-9D96-ED5B020EE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36320"/>
                <a:ext cx="10515600" cy="2470933"/>
              </a:xfrm>
              <a:prstGeom prst="rect">
                <a:avLst/>
              </a:prstGeom>
              <a:blipFill>
                <a:blip r:embed="rId2"/>
                <a:stretch>
                  <a:fillRect l="-928" t="-1975" r="-1449" b="-46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DC821C0F-0878-40D8-BA69-EE97AA30D2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9" b="7002"/>
          <a:stretch/>
        </p:blipFill>
        <p:spPr>
          <a:xfrm>
            <a:off x="1389993" y="3587496"/>
            <a:ext cx="9412013" cy="31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1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7FED3256-A2D0-48AA-A529-1E1C62C48CE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Нормальные сечения эллипсоида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5921ADEE-F802-4194-91B5-EB56CBEB66E7}"/>
                  </a:ext>
                </a:extLst>
              </p:cNvPr>
              <p:cNvSpPr txBox="1"/>
              <p:nvPr/>
            </p:nvSpPr>
            <p:spPr>
              <a:xfrm>
                <a:off x="621792" y="1120676"/>
                <a:ext cx="10948416" cy="4641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Через нормаль к поверхности можно провести множество плоскостей, каждая из которых в сечении дает кривую – </a:t>
                </a:r>
                <a:r>
                  <a:rPr lang="ru-RU" sz="2400" b="1" dirty="0"/>
                  <a:t>нормальное сечение</a:t>
                </a:r>
                <a:r>
                  <a:rPr lang="ru-RU" sz="2400" dirty="0"/>
                  <a:t>. В каждой точке поверхности существуют два нормальных сечения, имеющих наибольшую и наименьшую кривизну. Такие сечения называются </a:t>
                </a:r>
                <a:r>
                  <a:rPr lang="ru-RU" sz="2400" b="1" dirty="0"/>
                  <a:t>главными нормальными сечениями</a:t>
                </a:r>
                <a:r>
                  <a:rPr lang="ru-RU" sz="2400" dirty="0"/>
                  <a:t>, а их радиусы кривизны – главными </a:t>
                </a:r>
                <a:r>
                  <a:rPr lang="ru-RU" sz="2400" b="1" dirty="0"/>
                  <a:t>радиусами кривизны поверхности</a:t>
                </a:r>
              </a:p>
              <a:p>
                <a:pPr algn="just"/>
                <a:endParaRPr lang="ru-RU" sz="2400" b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func>
                            </m:e>
                          </m:rad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 algn="just"/>
                <a:endParaRPr lang="en-U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1 −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21ADEE-F802-4194-91B5-EB56CBEB6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" y="1120676"/>
                <a:ext cx="10948416" cy="4641142"/>
              </a:xfrm>
              <a:prstGeom prst="rect">
                <a:avLst/>
              </a:prstGeom>
              <a:blipFill>
                <a:blip r:embed="rId2"/>
                <a:stretch>
                  <a:fillRect l="-835" t="-1051" r="-8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72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2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</a:t>
            </a:r>
            <a:r>
              <a:rPr lang="en-US" sz="3600" b="1" dirty="0"/>
              <a:t>.</a:t>
            </a:r>
            <a:br>
              <a:rPr lang="en-US" sz="3600" b="1" dirty="0"/>
            </a:br>
            <a:r>
              <a:rPr lang="ru-RU" sz="3600" b="1" dirty="0"/>
              <a:t>Параметры эллипсоида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56A7FC34-5533-4271-976A-2B6B6E7F3AAE}"/>
                  </a:ext>
                </a:extLst>
              </p:cNvPr>
              <p:cNvSpPr txBox="1"/>
              <p:nvPr/>
            </p:nvSpPr>
            <p:spPr>
              <a:xfrm>
                <a:off x="838200" y="1694688"/>
                <a:ext cx="10515600" cy="3815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Параметры </a:t>
                </a:r>
                <a:r>
                  <a:rPr lang="en-US" sz="2400" dirty="0"/>
                  <a:t>WGS-84 </a:t>
                </a:r>
                <a:r>
                  <a:rPr lang="ru-RU" sz="2400" dirty="0"/>
                  <a:t>и других современных эллипсоидов </a:t>
                </a:r>
                <a:r>
                  <a:rPr lang="en-US" sz="2400" dirty="0"/>
                  <a:t>(</a:t>
                </a:r>
                <a:r>
                  <a:rPr lang="ru-RU" sz="2400" dirty="0"/>
                  <a:t>ПЗ-90.11</a:t>
                </a:r>
                <a:r>
                  <a:rPr lang="en-US" sz="2400" dirty="0"/>
                  <a:t>) </a:t>
                </a:r>
                <a:r>
                  <a:rPr lang="ru-RU" sz="2400" dirty="0"/>
                  <a:t>отличаются мало. Отличия в линейном расстоянии порядка 1 м</a:t>
                </a:r>
              </a:p>
              <a:p>
                <a:pPr algn="just"/>
                <a:r>
                  <a:rPr lang="ru-RU" sz="2400" dirty="0"/>
                  <a:t>Поверхность навигационного эллипсоида с хорошей точностью является эквипотенциальной поверхностью силы тяжести</a:t>
                </a:r>
                <a:endParaRPr lang="en-US" sz="2400" dirty="0"/>
              </a:p>
              <a:p>
                <a:pPr algn="just"/>
                <a:endParaRPr lang="ru-RU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r>
                  <a:rPr lang="ru-RU" sz="2400" dirty="0"/>
                  <a:t>Фактическое поле отличается от поля массивного однородного эллипсоида. Отличия реального потенциала от поля эллипсоида – </a:t>
                </a:r>
                <a:r>
                  <a:rPr lang="ru-RU" sz="2400" b="1" dirty="0"/>
                  <a:t>гравитационные аномалии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A7FC34-5533-4271-976A-2B6B6E7F3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4688"/>
                <a:ext cx="10515600" cy="3815725"/>
              </a:xfrm>
              <a:prstGeom prst="rect">
                <a:avLst/>
              </a:prstGeom>
              <a:blipFill>
                <a:blip r:embed="rId2"/>
                <a:stretch>
                  <a:fillRect l="-928" t="-1278" r="-870" b="-27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17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нормального гравитационного поля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976CFF0A-19A1-48B3-A740-E10466078DFB}"/>
                  </a:ext>
                </a:extLst>
              </p:cNvPr>
              <p:cNvSpPr txBox="1"/>
              <p:nvPr/>
            </p:nvSpPr>
            <p:spPr>
              <a:xfrm>
                <a:off x="463296" y="1011936"/>
                <a:ext cx="11362944" cy="6606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Нормальное ускорение свободного падения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ru-RU" sz="2400" dirty="0"/>
                  <a:t> – градиент потенциала гравитационного поля (</a:t>
                </a:r>
                <a:r>
                  <a:rPr lang="en-US" sz="2400" dirty="0"/>
                  <a:t>V</a:t>
                </a:r>
                <a:r>
                  <a:rPr lang="ru-RU" sz="2400" dirty="0"/>
                  <a:t>) на поверхности эллипсоида </a:t>
                </a:r>
                <a:r>
                  <a:rPr lang="en-US" sz="2400" dirty="0"/>
                  <a:t>(h = 0). </a:t>
                </a:r>
                <a:r>
                  <a:rPr lang="ru-RU" sz="2400" dirty="0"/>
                  <a:t>Задается приближенной формулой вида</a:t>
                </a:r>
              </a:p>
              <a:p>
                <a:pPr algn="just"/>
                <a:endParaRPr lang="ru-RU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func>
                            </m:e>
                          </m:rad>
                        </m:den>
                      </m:f>
                    </m:oMath>
                  </m:oMathPara>
                </a14:m>
                <a:endParaRPr lang="ru-RU" sz="2400" dirty="0"/>
              </a:p>
              <a:p>
                <a:pPr algn="just"/>
                <a:endParaRPr lang="en-U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ru-RU" sz="2400" b="0" dirty="0"/>
              </a:p>
              <a:p>
                <a:pPr algn="just"/>
                <a:endParaRPr lang="en-US" sz="2400" b="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большая и малая полуоси эллипсоида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нормальные ускорения свободного падения на экваторе и полюсе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первый эксцентриситет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геодезическая широта местности</a:t>
                </a:r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6CFF0A-19A1-48B3-A740-E10466078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6" y="1011936"/>
                <a:ext cx="11362944" cy="6606680"/>
              </a:xfrm>
              <a:prstGeom prst="rect">
                <a:avLst/>
              </a:prstGeom>
              <a:blipFill>
                <a:blip r:embed="rId2"/>
                <a:stretch>
                  <a:fillRect l="-805" t="-738" r="-8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914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нормального гравитационного поля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76CFF0A-19A1-48B3-A740-E10466078DFB}"/>
              </a:ext>
            </a:extLst>
          </p:cNvPr>
          <p:cNvSpPr txBox="1"/>
          <p:nvPr/>
        </p:nvSpPr>
        <p:spPr>
          <a:xfrm>
            <a:off x="463296" y="1011936"/>
            <a:ext cx="11362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А что если хотим знать ускорение свободного падения на какой-то высоте?</a:t>
            </a:r>
            <a:endParaRPr lang="en-US" sz="2400" dirty="0"/>
          </a:p>
          <a:p>
            <a:pPr algn="just"/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F3175A93-FE0F-4D31-B43E-4A31829D183F}"/>
                  </a:ext>
                </a:extLst>
              </p:cNvPr>
              <p:cNvSpPr txBox="1"/>
              <p:nvPr/>
            </p:nvSpPr>
            <p:spPr>
              <a:xfrm>
                <a:off x="463296" y="1842933"/>
                <a:ext cx="11265408" cy="4178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Если геодезическая высота (над эллипсоидом) мала, то можем разложить ускорение свободного падения в ряд по высоте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/>
                  <a:t>  </a:t>
                </a:r>
                <a:endParaRPr lang="en-US" sz="2400" dirty="0"/>
              </a:p>
              <a:p>
                <a:pPr algn="ctr"/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func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algn="ctr"/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𝐺𝑀</m:t>
                        </m:r>
                      </m:den>
                    </m:f>
                  </m:oMath>
                </a14:m>
                <a:endParaRPr lang="ru-RU" sz="2400" dirty="0"/>
              </a:p>
              <a:p>
                <a:pPr algn="ctr"/>
                <a:endParaRPr lang="ru-RU" sz="2400" dirty="0"/>
              </a:p>
              <a:p>
                <a:pPr algn="ctr"/>
                <a:r>
                  <a:rPr lang="ru-RU" sz="2400" b="1" dirty="0"/>
                  <a:t>Модель нормального поля Земли достаточна для инерциальных систем с уходом координаты порядка 1 мили в час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175A93-FE0F-4D31-B43E-4A31829D1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6" y="1842933"/>
                <a:ext cx="11265408" cy="4178580"/>
              </a:xfrm>
              <a:prstGeom prst="rect">
                <a:avLst/>
              </a:prstGeom>
              <a:blipFill>
                <a:blip r:embed="rId2"/>
                <a:stretch>
                  <a:fillRect l="-812" t="-1166" r="-812" b="-23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92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гравитационного поля Земли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(Earth Gravitational Model)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="" xmlns:a16="http://schemas.microsoft.com/office/drawing/2014/main" id="{84EEAF44-F5B9-43FE-9296-9CAEA1E5B574}"/>
                  </a:ext>
                </a:extLst>
              </p:cNvPr>
              <p:cNvSpPr txBox="1"/>
              <p:nvPr/>
            </p:nvSpPr>
            <p:spPr>
              <a:xfrm>
                <a:off x="256032" y="1487424"/>
                <a:ext cx="11594592" cy="4815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Для более полного описания модели гравитационного поля Земли</a:t>
                </a:r>
                <a:r>
                  <a:rPr lang="en-US" sz="2400" dirty="0"/>
                  <a:t> </a:t>
                </a:r>
                <a:r>
                  <a:rPr lang="ru-RU" sz="2400" dirty="0"/>
                  <a:t>гравитационный потенциал раскладывают по сферическим гармоникам.</a:t>
                </a:r>
              </a:p>
              <a:p>
                <a:pPr algn="just"/>
                <a:endParaRPr lang="ru-RU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sz="2400" b="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потенциал за счет вращения Земли</a:t>
                </a:r>
                <a:endParaRPr lang="en-US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координаты точки наблюдения в СК </a:t>
                </a:r>
                <a:r>
                  <a:rPr lang="en-US" sz="2400" dirty="0"/>
                  <a:t>WGS-84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функция гравитационного потенциала Земли имеет вид</a:t>
                </a:r>
              </a:p>
              <a:p>
                <a:pPr algn="just"/>
                <a:endParaRPr lang="ru-RU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𝑛𝑚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func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𝑛𝑚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func>
                                    </m:e>
                                  </m:d>
                                  <m:acc>
                                    <m:accPr>
                                      <m:chr m:val="̅"/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𝑛𝑚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func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EAF44-F5B9-43FE-9296-9CAEA1E5B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1487424"/>
                <a:ext cx="11594592" cy="4815934"/>
              </a:xfrm>
              <a:prstGeom prst="rect">
                <a:avLst/>
              </a:prstGeom>
              <a:blipFill>
                <a:blip r:embed="rId2"/>
                <a:stretch>
                  <a:fillRect l="-789" t="-1013" r="-7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5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93192" y="1251899"/>
                <a:ext cx="11430000" cy="53816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𝐺𝑀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 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𝑛𝑚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func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𝑛𝑚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func>
                                    </m:e>
                                  </m:d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𝑛𝑚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func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𝐺𝑀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гравитационная константа Земли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радиус вектор точки от центра Земли (эллипсоида)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большая полуось эллипсоида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</a:rPr>
                      <m:t>, </m:t>
                    </m:r>
                    <m:r>
                      <a:rPr lang="en-US" sz="2400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степень и порядок коэффициентов соответственно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/>
                      </a:rPr>
                      <m:t>𝜙</m:t>
                    </m:r>
                    <m:r>
                      <a:rPr lang="en-US" sz="2400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ru-RU" sz="2400" dirty="0" smtClean="0"/>
                  <a:t> - геоцентрическая широта точки</a:t>
                </a:r>
                <a:r>
                  <a:rPr lang="en-US" sz="2400" dirty="0" smtClean="0"/>
                  <a:t> </a:t>
                </a:r>
                <a:endParaRPr lang="ru-RU" sz="24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𝜆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геодезическая долгота  = геоцентрическая долгота точки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 smtClean="0"/>
                  <a:t> - </a:t>
                </a:r>
                <a:r>
                  <a:rPr lang="ru-RU" sz="2400" dirty="0" smtClean="0"/>
                  <a:t>нормированные коэффициенты разложения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𝑛𝑚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func>
                      </m:e>
                    </m:d>
                  </m:oMath>
                </a14:m>
                <a:r>
                  <a:rPr lang="en-US" sz="2400" dirty="0" smtClean="0"/>
                  <a:t> - </a:t>
                </a:r>
                <a:r>
                  <a:rPr lang="ru-RU" sz="2400" smtClean="0"/>
                  <a:t>функция </a:t>
                </a:r>
                <a:r>
                  <a:rPr lang="ru-RU" sz="2400" smtClean="0"/>
                  <a:t>Лежандра</a:t>
                </a:r>
                <a:endParaRPr lang="ru-RU" sz="2400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192" y="1251899"/>
                <a:ext cx="11430000" cy="5381657"/>
              </a:xfrm>
              <a:blipFill rotWithShape="1">
                <a:blip r:embed="rId2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777875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Система координат.</a:t>
            </a:r>
            <a:br>
              <a:rPr lang="ru-RU" sz="2800" b="1" dirty="0"/>
            </a:br>
            <a:r>
              <a:rPr lang="ru-RU" sz="2800" b="1" dirty="0"/>
              <a:t>Модель гравитационного поля Земли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(Earth Gravitational Model)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958391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гравитационного поля Земли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(Earth Gravitational Model)</a:t>
            </a:r>
            <a:endParaRPr lang="ru-RU" sz="36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68243184-7E7A-497B-8680-158DDA549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64" y="1350671"/>
            <a:ext cx="11244072" cy="457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55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гравитационного поля Земли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(Earth Gravitational Model)</a:t>
            </a:r>
            <a:endParaRPr lang="ru-RU" sz="36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3927CD8-9D2C-4F2C-BEBE-0C25219AA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6559"/>
            <a:ext cx="12192000" cy="506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0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9A067A8-241C-448F-B65E-9B34812C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77787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/>
              <a:t>Система координат.</a:t>
            </a:r>
            <a:br>
              <a:rPr lang="ru-RU" sz="3600" b="1" dirty="0"/>
            </a:br>
            <a:r>
              <a:rPr lang="ru-RU" sz="3600" b="1" dirty="0"/>
              <a:t>Модель гравитационного поля Земли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(Earth Gravitational Model)</a:t>
            </a:r>
            <a:endParaRPr lang="ru-RU" sz="36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C68D3797-E1B9-406B-A88E-30DA86090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76" y="1475231"/>
            <a:ext cx="11606247" cy="455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1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694D28A1-2526-4488-96C3-D04893EBB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86" y="182881"/>
            <a:ext cx="10422675" cy="667512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8C68AFFE-45E8-4738-B9DD-08997B19FBCC}"/>
              </a:ext>
            </a:extLst>
          </p:cNvPr>
          <p:cNvSpPr txBox="1">
            <a:spLocks/>
          </p:cNvSpPr>
          <p:nvPr/>
        </p:nvSpPr>
        <p:spPr>
          <a:xfrm>
            <a:off x="838200" y="-354660"/>
            <a:ext cx="1051560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/>
            </a:r>
            <a:br>
              <a:rPr lang="en-US" sz="3200" b="1" dirty="0"/>
            </a:br>
            <a:r>
              <a:rPr lang="ru-RU" sz="3200" b="1" dirty="0" smtClean="0"/>
              <a:t>Превышение геоида над эллипсоидом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154318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1129</Words>
  <Application>Microsoft Office PowerPoint</Application>
  <PresentationFormat>Произвольный</PresentationFormat>
  <Paragraphs>104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Модель Земли</vt:lpstr>
      <vt:lpstr>Историческая справка</vt:lpstr>
      <vt:lpstr>Историческая справка</vt:lpstr>
      <vt:lpstr>Историческая справка</vt:lpstr>
      <vt:lpstr>Историческая справка</vt:lpstr>
      <vt:lpstr>Историческая справка</vt:lpstr>
      <vt:lpstr>Историческая справка</vt:lpstr>
      <vt:lpstr>Система координат</vt:lpstr>
      <vt:lpstr>Система координат</vt:lpstr>
      <vt:lpstr>Система координат</vt:lpstr>
      <vt:lpstr>Система координат</vt:lpstr>
      <vt:lpstr>Система координат</vt:lpstr>
      <vt:lpstr>Система координат</vt:lpstr>
      <vt:lpstr>Система координат. Параметры эллипсоида</vt:lpstr>
      <vt:lpstr>Презентация PowerPoint</vt:lpstr>
      <vt:lpstr>Система координат. Параметры эллипсоида</vt:lpstr>
      <vt:lpstr>Система координат. Модель нормального гравитационного поля</vt:lpstr>
      <vt:lpstr>Система координат. Модель нормального гравитационного поля</vt:lpstr>
      <vt:lpstr>Система координат. Модель гравитационного поля Земли (Earth Gravitational Model)</vt:lpstr>
      <vt:lpstr>Система координат. Модель гравитационного поля Земли (Earth Gravitational Model)</vt:lpstr>
      <vt:lpstr>Система координат. Модель гравитационного поля Земли (Earth Gravitational Model)</vt:lpstr>
      <vt:lpstr>Система координат. Модель гравитационного поля Земли (Earth Gravitational Model)</vt:lpstr>
      <vt:lpstr>Система координат. Модель гравитационного поля Земли (Earth Gravitational Model)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Сутурин Дмитрий Анатольевич</dc:creator>
  <cp:lastModifiedBy>PC</cp:lastModifiedBy>
  <cp:revision>49</cp:revision>
  <dcterms:created xsi:type="dcterms:W3CDTF">2025-12-04T06:49:57Z</dcterms:created>
  <dcterms:modified xsi:type="dcterms:W3CDTF">2025-12-11T18:50:49Z</dcterms:modified>
</cp:coreProperties>
</file>